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101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Credit Wise Loan Approval </a:t>
            </a:r>
            <a:r>
              <a:rPr dirty="0" smtClean="0"/>
              <a:t>System</a:t>
            </a:r>
            <a:r>
              <a:rPr lang="en-IN" dirty="0" smtClean="0"/>
              <a:t/>
            </a:r>
            <a:br>
              <a:rPr lang="en-IN" dirty="0" smtClean="0"/>
            </a:br>
            <a:r>
              <a:rPr lang="en-IN" dirty="0" smtClean="0"/>
              <a:t>                                    </a:t>
            </a:r>
            <a:r>
              <a:rPr lang="en-IN" sz="1400" dirty="0" smtClean="0"/>
              <a:t>-BY (</a:t>
            </a:r>
            <a:r>
              <a:rPr lang="en-IN" sz="1400" b="1" dirty="0" smtClean="0"/>
              <a:t>SACHIN SOURAV </a:t>
            </a:r>
            <a:r>
              <a:rPr lang="en-IN" sz="1400" dirty="0" smtClean="0"/>
              <a:t>&amp; </a:t>
            </a:r>
            <a:r>
              <a:rPr lang="en-IN" sz="1400" b="1" dirty="0" smtClean="0"/>
              <a:t>ROUNAQUE AFROZ</a:t>
            </a:r>
            <a:r>
              <a:rPr lang="en-IN" sz="1400" dirty="0" smtClean="0"/>
              <a:t>)</a:t>
            </a:r>
            <a:endParaRPr dirty="0"/>
          </a:p>
        </p:txBody>
      </p:sp>
      <p:sp>
        <p:nvSpPr>
          <p:cNvPr id="3" name="Content Placeholder 2"/>
          <p:cNvSpPr>
            <a:spLocks noGrp="1"/>
          </p:cNvSpPr>
          <p:nvPr>
            <p:ph idx="1"/>
          </p:nvPr>
        </p:nvSpPr>
        <p:spPr/>
        <p:txBody>
          <a:bodyPr>
            <a:normAutofit/>
          </a:bodyPr>
          <a:lstStyle/>
          <a:p>
            <a:pPr marL="0" indent="0">
              <a:buNone/>
            </a:pPr>
            <a:r>
              <a:rPr lang="en-IN" sz="1400" b="1" dirty="0" smtClean="0"/>
              <a:t>PROBLEM STATEMENT</a:t>
            </a:r>
          </a:p>
          <a:p>
            <a:pPr marL="0" indent="0">
              <a:buNone/>
            </a:pPr>
            <a:endParaRPr lang="en-IN" sz="1400" b="1" dirty="0" smtClean="0"/>
          </a:p>
          <a:p>
            <a:pPr marL="0" indent="0">
              <a:buNone/>
            </a:pPr>
            <a:r>
              <a:rPr lang="en-US" sz="1200" dirty="0" smtClean="0"/>
              <a:t>A mid-sized financial company, </a:t>
            </a:r>
            <a:r>
              <a:rPr lang="en-US" sz="1200" b="1" dirty="0" err="1" smtClean="0"/>
              <a:t>SecureTrust</a:t>
            </a:r>
            <a:r>
              <a:rPr lang="en-US" sz="1200" b="1" dirty="0" smtClean="0"/>
              <a:t> Bank</a:t>
            </a:r>
            <a:r>
              <a:rPr lang="en-US" sz="1200" dirty="0" smtClean="0"/>
              <a:t>, offers personal and home loans to customers across both urban and rural regions of India. Every day, hundreds of customers apply for loans through online platforms as well as branch applications.</a:t>
            </a:r>
          </a:p>
          <a:p>
            <a:pPr marL="0" indent="0">
              <a:buNone/>
            </a:pPr>
            <a:endParaRPr lang="en-US" sz="1200" dirty="0" smtClean="0"/>
          </a:p>
          <a:p>
            <a:pPr marL="0" indent="0">
              <a:buNone/>
            </a:pPr>
            <a:r>
              <a:rPr lang="en-US" sz="1200" dirty="0" smtClean="0"/>
              <a:t>Until now, </a:t>
            </a:r>
            <a:r>
              <a:rPr lang="en-US" sz="1200" dirty="0" err="1" smtClean="0"/>
              <a:t>SecureTrust</a:t>
            </a:r>
            <a:r>
              <a:rPr lang="en-US" sz="1200" dirty="0" smtClean="0"/>
              <a:t> Bank has relied on a </a:t>
            </a:r>
            <a:r>
              <a:rPr lang="en-US" sz="1200" b="1" dirty="0" smtClean="0"/>
              <a:t>manual verification process</a:t>
            </a:r>
            <a:r>
              <a:rPr lang="en-US" sz="1200" dirty="0" smtClean="0"/>
              <a:t>, where loan officers evaluate applications by checking income proofs, employment details, credit history, and other supporting documents. </a:t>
            </a:r>
          </a:p>
          <a:p>
            <a:pPr marL="0" indent="0">
              <a:buNone/>
            </a:pPr>
            <a:r>
              <a:rPr lang="en-US" sz="1200" dirty="0" smtClean="0"/>
              <a:t>This process is:</a:t>
            </a:r>
          </a:p>
          <a:p>
            <a:r>
              <a:rPr lang="en-US" sz="1200" dirty="0" smtClean="0"/>
              <a:t>Time-consuming </a:t>
            </a:r>
          </a:p>
          <a:p>
            <a:r>
              <a:rPr lang="en-US" sz="1200" dirty="0" smtClean="0"/>
              <a:t>Prone to human bias </a:t>
            </a:r>
          </a:p>
          <a:p>
            <a:r>
              <a:rPr lang="en-US" sz="1200" dirty="0" smtClean="0"/>
              <a:t>Inconsistent in decision-making </a:t>
            </a:r>
          </a:p>
          <a:p>
            <a:endParaRPr lang="en-US" sz="1200" dirty="0" smtClean="0"/>
          </a:p>
          <a:p>
            <a:pPr marL="0" indent="0">
              <a:buNone/>
            </a:pPr>
            <a:r>
              <a:rPr lang="en-US" sz="1200" dirty="0" smtClean="0"/>
              <a:t>As a result, the bank faces two major challenges:</a:t>
            </a:r>
          </a:p>
          <a:p>
            <a:pPr marL="0" indent="0">
              <a:buNone/>
            </a:pPr>
            <a:endParaRPr lang="en-US" sz="1200" dirty="0" smtClean="0"/>
          </a:p>
          <a:p>
            <a:pPr marL="0" indent="0">
              <a:buNone/>
            </a:pPr>
            <a:r>
              <a:rPr lang="en-US" sz="1200" b="1" dirty="0" smtClean="0"/>
              <a:t>Good customers sometimes get rejected</a:t>
            </a:r>
            <a:r>
              <a:rPr lang="en-US" sz="1200" dirty="0" smtClean="0"/>
              <a:t>, leading to loss of potential business. </a:t>
            </a:r>
          </a:p>
          <a:p>
            <a:pPr marL="0" indent="0">
              <a:buNone/>
            </a:pPr>
            <a:r>
              <a:rPr lang="en-US" sz="1200" b="1" dirty="0" smtClean="0"/>
              <a:t>High-risk customers sometimes get approved</a:t>
            </a:r>
            <a:r>
              <a:rPr lang="en-US" sz="1200" dirty="0" smtClean="0"/>
              <a:t>, resulting in financial losses.</a:t>
            </a:r>
          </a:p>
          <a:p>
            <a:pPr marL="0" indent="0">
              <a:buNone/>
            </a:pPr>
            <a:endParaRP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SOLUTION</a:t>
            </a:r>
            <a:endParaRPr dirty="0"/>
          </a:p>
        </p:txBody>
      </p:sp>
      <p:sp>
        <p:nvSpPr>
          <p:cNvPr id="3" name="Content Placeholder 2"/>
          <p:cNvSpPr>
            <a:spLocks noGrp="1"/>
          </p:cNvSpPr>
          <p:nvPr>
            <p:ph idx="1"/>
          </p:nvPr>
        </p:nvSpPr>
        <p:spPr/>
        <p:txBody>
          <a:bodyPr>
            <a:normAutofit/>
          </a:bodyPr>
          <a:lstStyle/>
          <a:p>
            <a:pPr marL="0" indent="0">
              <a:buNone/>
            </a:pPr>
            <a:r>
              <a:rPr lang="en-US" sz="1200" dirty="0"/>
              <a:t>To address these issues, the bank aims to introduce an </a:t>
            </a:r>
            <a:r>
              <a:rPr lang="en-US" sz="1200" b="1" dirty="0"/>
              <a:t>intelligent loan approval system powered by Machine Learning</a:t>
            </a:r>
            <a:r>
              <a:rPr lang="en-US" sz="1200" dirty="0"/>
              <a:t>. This system will</a:t>
            </a:r>
            <a:r>
              <a:rPr lang="en-US" sz="1200" dirty="0" smtClean="0"/>
              <a:t>:</a:t>
            </a:r>
          </a:p>
          <a:p>
            <a:pPr marL="0" indent="0">
              <a:buNone/>
            </a:pPr>
            <a:endParaRPr lang="en-US" sz="1200" dirty="0"/>
          </a:p>
          <a:p>
            <a:r>
              <a:rPr lang="en-US" sz="1200" dirty="0"/>
              <a:t>Automatically analyze applicant details </a:t>
            </a:r>
            <a:r>
              <a:rPr lang="en-US" sz="1200" dirty="0" smtClean="0"/>
              <a:t>.</a:t>
            </a:r>
            <a:endParaRPr lang="en-US" sz="1200" dirty="0"/>
          </a:p>
          <a:p>
            <a:r>
              <a:rPr lang="en-US" sz="1200" dirty="0"/>
              <a:t>Predict whether a loan should be </a:t>
            </a:r>
            <a:r>
              <a:rPr lang="en-US" sz="1200" b="1" dirty="0"/>
              <a:t>Approved</a:t>
            </a:r>
            <a:r>
              <a:rPr lang="en-US" sz="1200" dirty="0"/>
              <a:t> or </a:t>
            </a:r>
            <a:r>
              <a:rPr lang="en-US" sz="1200" b="1" dirty="0" smtClean="0"/>
              <a:t>Rejected.</a:t>
            </a:r>
            <a:r>
              <a:rPr lang="en-US" sz="1200" dirty="0" smtClean="0"/>
              <a:t> </a:t>
            </a:r>
            <a:endParaRPr lang="en-US" sz="1200" dirty="0"/>
          </a:p>
          <a:p>
            <a:r>
              <a:rPr lang="en-US" sz="1200" dirty="0"/>
              <a:t>Assist in decision-making before final human </a:t>
            </a:r>
            <a:r>
              <a:rPr lang="en-US" sz="1200" dirty="0" smtClean="0"/>
              <a:t>verification.</a:t>
            </a:r>
          </a:p>
          <a:p>
            <a:endParaRPr lang="en-US" sz="1200" dirty="0"/>
          </a:p>
          <a:p>
            <a:pPr marL="0" indent="0">
              <a:buNone/>
            </a:pPr>
            <a:r>
              <a:rPr lang="en-US" sz="1200" dirty="0"/>
              <a:t>The system must</a:t>
            </a:r>
            <a:r>
              <a:rPr lang="en-US" sz="1200" dirty="0" smtClean="0"/>
              <a:t>:</a:t>
            </a:r>
          </a:p>
          <a:p>
            <a:pPr marL="0" indent="0">
              <a:buNone/>
            </a:pPr>
            <a:endParaRPr lang="en-US" sz="1200" dirty="0"/>
          </a:p>
          <a:p>
            <a:r>
              <a:rPr lang="en-US" sz="1200" dirty="0"/>
              <a:t>Learn hidden patterns from past customer </a:t>
            </a:r>
            <a:r>
              <a:rPr lang="en-US" sz="1200" dirty="0" smtClean="0"/>
              <a:t>records.</a:t>
            </a:r>
            <a:endParaRPr lang="en-US" sz="1200" dirty="0"/>
          </a:p>
          <a:p>
            <a:r>
              <a:rPr lang="en-US" sz="1200" dirty="0"/>
              <a:t>Provide accurate and fast predictions </a:t>
            </a:r>
            <a:r>
              <a:rPr lang="en-US" sz="1200" dirty="0" smtClean="0"/>
              <a:t>.</a:t>
            </a:r>
            <a:endParaRPr lang="en-US" sz="1200" dirty="0"/>
          </a:p>
          <a:p>
            <a:r>
              <a:rPr lang="en-US" sz="1200" dirty="0"/>
              <a:t>Ensure unbiased and consistent loan approval </a:t>
            </a:r>
            <a:r>
              <a:rPr lang="en-US" sz="1200" dirty="0" smtClean="0"/>
              <a:t>decisions.</a:t>
            </a:r>
            <a:endParaRPr lang="en-US" sz="1200" dirty="0"/>
          </a:p>
          <a:p>
            <a:pPr marL="0" indent="0">
              <a:buNone/>
            </a:pPr>
            <a:endParaRPr lang="en-US" sz="1200" dirty="0"/>
          </a:p>
          <a:p>
            <a:pPr marL="0" indent="0">
              <a:buNone/>
            </a:pPr>
            <a:endParaRPr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DATASET DESCRIPTION</a:t>
            </a:r>
            <a:endParaRPr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45883255"/>
              </p:ext>
            </p:extLst>
          </p:nvPr>
        </p:nvGraphicFramePr>
        <p:xfrm>
          <a:off x="2514744" y="1600084"/>
          <a:ext cx="4114512" cy="4526196"/>
        </p:xfrm>
        <a:graphic>
          <a:graphicData uri="http://schemas.openxmlformats.org/drawingml/2006/table">
            <a:tbl>
              <a:tblPr>
                <a:tableStyleId>{3B4B98B0-60AC-42C2-AFA5-B58CD77FA1E5}</a:tableStyleId>
              </a:tblPr>
              <a:tblGrid>
                <a:gridCol w="2057256"/>
                <a:gridCol w="2057256"/>
              </a:tblGrid>
              <a:tr h="182867">
                <a:tc>
                  <a:txBody>
                    <a:bodyPr/>
                    <a:lstStyle/>
                    <a:p>
                      <a:r>
                        <a:rPr lang="en-IN" sz="900" dirty="0"/>
                        <a:t>Column Name</a:t>
                      </a:r>
                    </a:p>
                  </a:txBody>
                  <a:tcPr marL="45717" marR="45717" marT="22858" marB="22858" anchor="ctr"/>
                </a:tc>
                <a:tc>
                  <a:txBody>
                    <a:bodyPr/>
                    <a:lstStyle/>
                    <a:p>
                      <a:r>
                        <a:rPr lang="en-IN" sz="900"/>
                        <a:t>Description</a:t>
                      </a:r>
                    </a:p>
                  </a:txBody>
                  <a:tcPr marL="45717" marR="45717" marT="22858" marB="22858" anchor="ctr"/>
                </a:tc>
              </a:tr>
              <a:tr h="182867">
                <a:tc>
                  <a:txBody>
                    <a:bodyPr/>
                    <a:lstStyle/>
                    <a:p>
                      <a:r>
                        <a:rPr lang="en-IN" sz="900"/>
                        <a:t>Applicant_ID</a:t>
                      </a:r>
                    </a:p>
                  </a:txBody>
                  <a:tcPr marL="45717" marR="45717" marT="22858" marB="22858" anchor="ctr"/>
                </a:tc>
                <a:tc>
                  <a:txBody>
                    <a:bodyPr/>
                    <a:lstStyle/>
                    <a:p>
                      <a:r>
                        <a:rPr lang="en-IN" sz="900"/>
                        <a:t>Unique applicant ID</a:t>
                      </a:r>
                    </a:p>
                  </a:txBody>
                  <a:tcPr marL="45717" marR="45717" marT="22858" marB="22858" anchor="ctr"/>
                </a:tc>
              </a:tr>
              <a:tr h="182867">
                <a:tc>
                  <a:txBody>
                    <a:bodyPr/>
                    <a:lstStyle/>
                    <a:p>
                      <a:r>
                        <a:rPr lang="en-IN" sz="900"/>
                        <a:t>Applicant_Income</a:t>
                      </a:r>
                    </a:p>
                  </a:txBody>
                  <a:tcPr marL="45717" marR="45717" marT="22858" marB="22858" anchor="ctr"/>
                </a:tc>
                <a:tc>
                  <a:txBody>
                    <a:bodyPr/>
                    <a:lstStyle/>
                    <a:p>
                      <a:r>
                        <a:rPr lang="en-US" sz="900"/>
                        <a:t>Monthly income of the applicant</a:t>
                      </a:r>
                    </a:p>
                  </a:txBody>
                  <a:tcPr marL="45717" marR="45717" marT="22858" marB="22858" anchor="ctr"/>
                </a:tc>
              </a:tr>
              <a:tr h="182867">
                <a:tc>
                  <a:txBody>
                    <a:bodyPr/>
                    <a:lstStyle/>
                    <a:p>
                      <a:r>
                        <a:rPr lang="en-IN" sz="900"/>
                        <a:t>Coapplicant_Income</a:t>
                      </a:r>
                    </a:p>
                  </a:txBody>
                  <a:tcPr marL="45717" marR="45717" marT="22858" marB="22858" anchor="ctr"/>
                </a:tc>
                <a:tc>
                  <a:txBody>
                    <a:bodyPr/>
                    <a:lstStyle/>
                    <a:p>
                      <a:r>
                        <a:rPr lang="en-US" sz="900"/>
                        <a:t>Monthly income of the co-applicant</a:t>
                      </a:r>
                    </a:p>
                  </a:txBody>
                  <a:tcPr marL="45717" marR="45717" marT="22858" marB="22858" anchor="ctr"/>
                </a:tc>
              </a:tr>
              <a:tr h="320018">
                <a:tc>
                  <a:txBody>
                    <a:bodyPr/>
                    <a:lstStyle/>
                    <a:p>
                      <a:r>
                        <a:rPr lang="en-IN" sz="900"/>
                        <a:t>Employment_Status</a:t>
                      </a:r>
                    </a:p>
                  </a:txBody>
                  <a:tcPr marL="45717" marR="45717" marT="22858" marB="22858" anchor="ctr"/>
                </a:tc>
                <a:tc>
                  <a:txBody>
                    <a:bodyPr/>
                    <a:lstStyle/>
                    <a:p>
                      <a:r>
                        <a:rPr lang="en-US" sz="900"/>
                        <a:t>Employment type (Salaried / Self-Employed / Business)</a:t>
                      </a:r>
                    </a:p>
                  </a:txBody>
                  <a:tcPr marL="45717" marR="45717" marT="22858" marB="22858" anchor="ctr"/>
                </a:tc>
              </a:tr>
              <a:tr h="182867">
                <a:tc>
                  <a:txBody>
                    <a:bodyPr/>
                    <a:lstStyle/>
                    <a:p>
                      <a:r>
                        <a:rPr lang="en-IN" sz="900"/>
                        <a:t>Age</a:t>
                      </a:r>
                    </a:p>
                  </a:txBody>
                  <a:tcPr marL="45717" marR="45717" marT="22858" marB="22858" anchor="ctr"/>
                </a:tc>
                <a:tc>
                  <a:txBody>
                    <a:bodyPr/>
                    <a:lstStyle/>
                    <a:p>
                      <a:r>
                        <a:rPr lang="en-IN" sz="900"/>
                        <a:t>Applicant's age</a:t>
                      </a:r>
                    </a:p>
                  </a:txBody>
                  <a:tcPr marL="45717" marR="45717" marT="22858" marB="22858" anchor="ctr"/>
                </a:tc>
              </a:tr>
              <a:tr h="182867">
                <a:tc>
                  <a:txBody>
                    <a:bodyPr/>
                    <a:lstStyle/>
                    <a:p>
                      <a:r>
                        <a:rPr lang="en-IN" sz="900"/>
                        <a:t>Marital_Status</a:t>
                      </a:r>
                    </a:p>
                  </a:txBody>
                  <a:tcPr marL="45717" marR="45717" marT="22858" marB="22858" anchor="ctr"/>
                </a:tc>
                <a:tc>
                  <a:txBody>
                    <a:bodyPr/>
                    <a:lstStyle/>
                    <a:p>
                      <a:r>
                        <a:rPr lang="en-IN" sz="900"/>
                        <a:t>Marital status (Married / Single)</a:t>
                      </a:r>
                    </a:p>
                  </a:txBody>
                  <a:tcPr marL="45717" marR="45717" marT="22858" marB="22858" anchor="ctr"/>
                </a:tc>
              </a:tr>
              <a:tr h="182867">
                <a:tc>
                  <a:txBody>
                    <a:bodyPr/>
                    <a:lstStyle/>
                    <a:p>
                      <a:r>
                        <a:rPr lang="en-IN" sz="900"/>
                        <a:t>Dependents</a:t>
                      </a:r>
                    </a:p>
                  </a:txBody>
                  <a:tcPr marL="45717" marR="45717" marT="22858" marB="22858" anchor="ctr"/>
                </a:tc>
                <a:tc>
                  <a:txBody>
                    <a:bodyPr/>
                    <a:lstStyle/>
                    <a:p>
                      <a:r>
                        <a:rPr lang="en-IN" sz="900"/>
                        <a:t>Number of dependents</a:t>
                      </a:r>
                    </a:p>
                  </a:txBody>
                  <a:tcPr marL="45717" marR="45717" marT="22858" marB="22858" anchor="ctr"/>
                </a:tc>
              </a:tr>
              <a:tr h="182867">
                <a:tc>
                  <a:txBody>
                    <a:bodyPr/>
                    <a:lstStyle/>
                    <a:p>
                      <a:r>
                        <a:rPr lang="en-IN" sz="900"/>
                        <a:t>Credit_Score</a:t>
                      </a:r>
                    </a:p>
                  </a:txBody>
                  <a:tcPr marL="45717" marR="45717" marT="22858" marB="22858" anchor="ctr"/>
                </a:tc>
                <a:tc>
                  <a:txBody>
                    <a:bodyPr/>
                    <a:lstStyle/>
                    <a:p>
                      <a:r>
                        <a:rPr lang="en-IN" sz="900" dirty="0"/>
                        <a:t>Credit bureau score</a:t>
                      </a:r>
                    </a:p>
                  </a:txBody>
                  <a:tcPr marL="45717" marR="45717" marT="22858" marB="22858" anchor="ctr"/>
                </a:tc>
              </a:tr>
              <a:tr h="182867">
                <a:tc>
                  <a:txBody>
                    <a:bodyPr/>
                    <a:lstStyle/>
                    <a:p>
                      <a:r>
                        <a:rPr lang="en-IN" sz="900" dirty="0" err="1"/>
                        <a:t>Existing_Loans</a:t>
                      </a:r>
                      <a:endParaRPr lang="en-IN" sz="900" dirty="0"/>
                    </a:p>
                  </a:txBody>
                  <a:tcPr marL="45717" marR="45717" marT="22858" marB="22858" anchor="ctr"/>
                </a:tc>
                <a:tc>
                  <a:txBody>
                    <a:bodyPr/>
                    <a:lstStyle/>
                    <a:p>
                      <a:r>
                        <a:rPr lang="en-US" sz="900"/>
                        <a:t>Number of currently active loans</a:t>
                      </a:r>
                    </a:p>
                  </a:txBody>
                  <a:tcPr marL="45717" marR="45717" marT="22858" marB="22858" anchor="ctr"/>
                </a:tc>
              </a:tr>
              <a:tr h="182867">
                <a:tc>
                  <a:txBody>
                    <a:bodyPr/>
                    <a:lstStyle/>
                    <a:p>
                      <a:r>
                        <a:rPr lang="en-IN" sz="900"/>
                        <a:t>DTI_Ratio</a:t>
                      </a:r>
                    </a:p>
                  </a:txBody>
                  <a:tcPr marL="45717" marR="45717" marT="22858" marB="22858" anchor="ctr"/>
                </a:tc>
                <a:tc>
                  <a:txBody>
                    <a:bodyPr/>
                    <a:lstStyle/>
                    <a:p>
                      <a:r>
                        <a:rPr lang="en-IN" sz="900"/>
                        <a:t>Debt-to-Income ratio</a:t>
                      </a:r>
                    </a:p>
                  </a:txBody>
                  <a:tcPr marL="45717" marR="45717" marT="22858" marB="22858" anchor="ctr"/>
                </a:tc>
              </a:tr>
              <a:tr h="182867">
                <a:tc>
                  <a:txBody>
                    <a:bodyPr/>
                    <a:lstStyle/>
                    <a:p>
                      <a:r>
                        <a:rPr lang="en-IN" sz="900"/>
                        <a:t>Savings</a:t>
                      </a:r>
                    </a:p>
                  </a:txBody>
                  <a:tcPr marL="45717" marR="45717" marT="22858" marB="22858" anchor="ctr"/>
                </a:tc>
                <a:tc>
                  <a:txBody>
                    <a:bodyPr/>
                    <a:lstStyle/>
                    <a:p>
                      <a:r>
                        <a:rPr lang="en-US" sz="900"/>
                        <a:t>Savings balance of the applicant</a:t>
                      </a:r>
                    </a:p>
                  </a:txBody>
                  <a:tcPr marL="45717" marR="45717" marT="22858" marB="22858" anchor="ctr"/>
                </a:tc>
              </a:tr>
              <a:tr h="182867">
                <a:tc>
                  <a:txBody>
                    <a:bodyPr/>
                    <a:lstStyle/>
                    <a:p>
                      <a:r>
                        <a:rPr lang="en-IN" sz="900"/>
                        <a:t>Collateral_Value</a:t>
                      </a:r>
                    </a:p>
                  </a:txBody>
                  <a:tcPr marL="45717" marR="45717" marT="22858" marB="22858" anchor="ctr"/>
                </a:tc>
                <a:tc>
                  <a:txBody>
                    <a:bodyPr/>
                    <a:lstStyle/>
                    <a:p>
                      <a:r>
                        <a:rPr lang="en-IN" sz="900"/>
                        <a:t>Value of collateral provided</a:t>
                      </a:r>
                    </a:p>
                  </a:txBody>
                  <a:tcPr marL="45717" marR="45717" marT="22858" marB="22858" anchor="ctr"/>
                </a:tc>
              </a:tr>
              <a:tr h="182867">
                <a:tc>
                  <a:txBody>
                    <a:bodyPr/>
                    <a:lstStyle/>
                    <a:p>
                      <a:r>
                        <a:rPr lang="en-IN" sz="900"/>
                        <a:t>Loan_Amount</a:t>
                      </a:r>
                    </a:p>
                  </a:txBody>
                  <a:tcPr marL="45717" marR="45717" marT="22858" marB="22858" anchor="ctr"/>
                </a:tc>
                <a:tc>
                  <a:txBody>
                    <a:bodyPr/>
                    <a:lstStyle/>
                    <a:p>
                      <a:r>
                        <a:rPr lang="en-IN" sz="900"/>
                        <a:t>Loan amount requested</a:t>
                      </a:r>
                    </a:p>
                  </a:txBody>
                  <a:tcPr marL="45717" marR="45717" marT="22858" marB="22858" anchor="ctr"/>
                </a:tc>
              </a:tr>
              <a:tr h="182867">
                <a:tc>
                  <a:txBody>
                    <a:bodyPr/>
                    <a:lstStyle/>
                    <a:p>
                      <a:r>
                        <a:rPr lang="en-IN" sz="900"/>
                        <a:t>Loan_Term</a:t>
                      </a:r>
                    </a:p>
                  </a:txBody>
                  <a:tcPr marL="45717" marR="45717" marT="22858" marB="22858" anchor="ctr"/>
                </a:tc>
                <a:tc>
                  <a:txBody>
                    <a:bodyPr/>
                    <a:lstStyle/>
                    <a:p>
                      <a:r>
                        <a:rPr lang="en-IN" sz="900"/>
                        <a:t>Loan duration (in months)</a:t>
                      </a:r>
                    </a:p>
                  </a:txBody>
                  <a:tcPr marL="45717" marR="45717" marT="22858" marB="22858" anchor="ctr"/>
                </a:tc>
              </a:tr>
              <a:tr h="320018">
                <a:tc>
                  <a:txBody>
                    <a:bodyPr/>
                    <a:lstStyle/>
                    <a:p>
                      <a:r>
                        <a:rPr lang="en-IN" sz="900"/>
                        <a:t>Loan_Purpose</a:t>
                      </a:r>
                    </a:p>
                  </a:txBody>
                  <a:tcPr marL="45717" marR="45717" marT="22858" marB="22858" anchor="ctr"/>
                </a:tc>
                <a:tc>
                  <a:txBody>
                    <a:bodyPr/>
                    <a:lstStyle/>
                    <a:p>
                      <a:r>
                        <a:rPr lang="en-US" sz="900"/>
                        <a:t>Purpose of loan (Home / Education / Personal / Business)</a:t>
                      </a:r>
                    </a:p>
                  </a:txBody>
                  <a:tcPr marL="45717" marR="45717" marT="22858" marB="22858" anchor="ctr"/>
                </a:tc>
              </a:tr>
              <a:tr h="320018">
                <a:tc>
                  <a:txBody>
                    <a:bodyPr/>
                    <a:lstStyle/>
                    <a:p>
                      <a:r>
                        <a:rPr lang="en-IN" sz="900"/>
                        <a:t>Property_Area</a:t>
                      </a:r>
                    </a:p>
                  </a:txBody>
                  <a:tcPr marL="45717" marR="45717" marT="22858" marB="22858" anchor="ctr"/>
                </a:tc>
                <a:tc>
                  <a:txBody>
                    <a:bodyPr/>
                    <a:lstStyle/>
                    <a:p>
                      <a:r>
                        <a:rPr lang="en-US" sz="900"/>
                        <a:t>Location type (Urban / Semi-Urban / Rural)</a:t>
                      </a:r>
                    </a:p>
                  </a:txBody>
                  <a:tcPr marL="45717" marR="45717" marT="22858" marB="22858" anchor="ctr"/>
                </a:tc>
              </a:tr>
              <a:tr h="320018">
                <a:tc>
                  <a:txBody>
                    <a:bodyPr/>
                    <a:lstStyle/>
                    <a:p>
                      <a:r>
                        <a:rPr lang="en-IN" sz="900"/>
                        <a:t>Education_Level</a:t>
                      </a:r>
                    </a:p>
                  </a:txBody>
                  <a:tcPr marL="45717" marR="45717" marT="22858" marB="22858" anchor="ctr"/>
                </a:tc>
                <a:tc>
                  <a:txBody>
                    <a:bodyPr/>
                    <a:lstStyle/>
                    <a:p>
                      <a:r>
                        <a:rPr lang="en-US" sz="900"/>
                        <a:t>Education level (Graduate / Postgraduate / Undergraduate)</a:t>
                      </a:r>
                    </a:p>
                  </a:txBody>
                  <a:tcPr marL="45717" marR="45717" marT="22858" marB="22858" anchor="ctr"/>
                </a:tc>
              </a:tr>
              <a:tr h="182867">
                <a:tc>
                  <a:txBody>
                    <a:bodyPr/>
                    <a:lstStyle/>
                    <a:p>
                      <a:r>
                        <a:rPr lang="en-IN" sz="900"/>
                        <a:t>Gender</a:t>
                      </a:r>
                    </a:p>
                  </a:txBody>
                  <a:tcPr marL="45717" marR="45717" marT="22858" marB="22858" anchor="ctr"/>
                </a:tc>
                <a:tc>
                  <a:txBody>
                    <a:bodyPr/>
                    <a:lstStyle/>
                    <a:p>
                      <a:r>
                        <a:rPr lang="en-US" sz="900"/>
                        <a:t>Gender of the applicant (Male / Female)</a:t>
                      </a:r>
                    </a:p>
                  </a:txBody>
                  <a:tcPr marL="45717" marR="45717" marT="22858" marB="22858" anchor="ctr"/>
                </a:tc>
              </a:tr>
              <a:tr h="182867">
                <a:tc>
                  <a:txBody>
                    <a:bodyPr/>
                    <a:lstStyle/>
                    <a:p>
                      <a:r>
                        <a:rPr lang="en-IN" sz="900"/>
                        <a:t>Employer_Category</a:t>
                      </a:r>
                    </a:p>
                  </a:txBody>
                  <a:tcPr marL="45717" marR="45717" marT="22858" marB="22858" anchor="ctr"/>
                </a:tc>
                <a:tc>
                  <a:txBody>
                    <a:bodyPr/>
                    <a:lstStyle/>
                    <a:p>
                      <a:r>
                        <a:rPr lang="en-US" sz="900"/>
                        <a:t>Employer type (Govt / Private / Self)</a:t>
                      </a:r>
                    </a:p>
                  </a:txBody>
                  <a:tcPr marL="45717" marR="45717" marT="22858" marB="22858" anchor="ctr"/>
                </a:tc>
              </a:tr>
              <a:tr h="320018">
                <a:tc>
                  <a:txBody>
                    <a:bodyPr/>
                    <a:lstStyle/>
                    <a:p>
                      <a:r>
                        <a:rPr lang="en-IN" sz="900"/>
                        <a:t>Loan_Approved (Target)</a:t>
                      </a:r>
                    </a:p>
                  </a:txBody>
                  <a:tcPr marL="45717" marR="45717" marT="22858" marB="22858" anchor="ctr"/>
                </a:tc>
                <a:tc>
                  <a:txBody>
                    <a:bodyPr/>
                    <a:lstStyle/>
                    <a:p>
                      <a:r>
                        <a:rPr lang="en-US" sz="900" dirty="0"/>
                        <a:t>Loan approval status (1 = Approved, 0 = Rejected)</a:t>
                      </a:r>
                    </a:p>
                  </a:txBody>
                  <a:tcPr marL="45717" marR="45717" marT="22858" marB="22858" anchor="ct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STEPS</a:t>
            </a:r>
            <a:endParaRPr dirty="0"/>
          </a:p>
        </p:txBody>
      </p:sp>
      <p:sp>
        <p:nvSpPr>
          <p:cNvPr id="3" name="Content Placeholder 2"/>
          <p:cNvSpPr>
            <a:spLocks noGrp="1"/>
          </p:cNvSpPr>
          <p:nvPr>
            <p:ph idx="1"/>
          </p:nvPr>
        </p:nvSpPr>
        <p:spPr>
          <a:xfrm>
            <a:off x="457200" y="1600200"/>
            <a:ext cx="3701441" cy="4525963"/>
          </a:xfrm>
        </p:spPr>
        <p:txBody>
          <a:bodyPr>
            <a:normAutofit/>
          </a:bodyPr>
          <a:lstStyle/>
          <a:p>
            <a:pPr marL="0" indent="0">
              <a:buNone/>
            </a:pPr>
            <a:r>
              <a:rPr lang="en-IN" sz="1200" dirty="0" smtClean="0"/>
              <a:t>STEP 1 : DATA LOADING</a:t>
            </a:r>
          </a:p>
          <a:p>
            <a:pPr marL="0" indent="0">
              <a:buNone/>
            </a:pPr>
            <a:r>
              <a:rPr lang="en-IN" sz="1200" dirty="0"/>
              <a:t>STEP </a:t>
            </a:r>
            <a:r>
              <a:rPr lang="en-IN" sz="1200" dirty="0" smtClean="0"/>
              <a:t>2 </a:t>
            </a:r>
            <a:r>
              <a:rPr lang="en-IN" sz="1200" dirty="0"/>
              <a:t>: DATA </a:t>
            </a:r>
            <a:r>
              <a:rPr lang="en-IN" sz="1200" dirty="0" smtClean="0"/>
              <a:t>CLEANING &amp; EXPLORATION</a:t>
            </a:r>
          </a:p>
          <a:p>
            <a:pPr marL="0" indent="0">
              <a:buNone/>
            </a:pPr>
            <a:r>
              <a:rPr lang="en-IN" sz="1200" dirty="0" smtClean="0"/>
              <a:t>STEP 3 : HANDLE MISSING VALUES</a:t>
            </a:r>
          </a:p>
          <a:p>
            <a:pPr marL="0" indent="0">
              <a:buNone/>
            </a:pPr>
            <a:r>
              <a:rPr lang="en-IN" sz="1200" dirty="0"/>
              <a:t>STEP </a:t>
            </a:r>
            <a:r>
              <a:rPr lang="en-IN" sz="1200" dirty="0" smtClean="0"/>
              <a:t>4 </a:t>
            </a:r>
            <a:r>
              <a:rPr lang="en-IN" sz="1200" dirty="0"/>
              <a:t>: </a:t>
            </a:r>
            <a:r>
              <a:rPr lang="en-IN" sz="1200" dirty="0" smtClean="0"/>
              <a:t>EDA </a:t>
            </a:r>
          </a:p>
          <a:p>
            <a:pPr marL="0" indent="0">
              <a:buNone/>
            </a:pPr>
            <a:r>
              <a:rPr lang="en-IN" sz="1200" dirty="0"/>
              <a:t>STEP </a:t>
            </a:r>
            <a:r>
              <a:rPr lang="en-IN" sz="1200" dirty="0" smtClean="0"/>
              <a:t>5 </a:t>
            </a:r>
            <a:r>
              <a:rPr lang="en-IN" sz="1200" dirty="0"/>
              <a:t>: </a:t>
            </a:r>
            <a:r>
              <a:rPr lang="en-IN" sz="1200" dirty="0" smtClean="0"/>
              <a:t>HANDLING OUTLIERS</a:t>
            </a:r>
          </a:p>
          <a:p>
            <a:pPr marL="0" indent="0">
              <a:buNone/>
            </a:pPr>
            <a:r>
              <a:rPr lang="en-IN" sz="1200" dirty="0" smtClean="0"/>
              <a:t>STEP 6 : VISUALIZATION</a:t>
            </a:r>
          </a:p>
          <a:p>
            <a:pPr marL="0" indent="0">
              <a:buNone/>
            </a:pPr>
            <a:r>
              <a:rPr lang="en-IN" sz="1200" dirty="0" smtClean="0"/>
              <a:t>STEP 7 : ENCODING</a:t>
            </a:r>
          </a:p>
          <a:p>
            <a:pPr marL="0" indent="0">
              <a:buNone/>
            </a:pPr>
            <a:r>
              <a:rPr lang="en-IN" sz="1200" dirty="0" smtClean="0"/>
              <a:t>STEP 8 : CORRELATION HEATMAP</a:t>
            </a:r>
          </a:p>
          <a:p>
            <a:pPr marL="0" indent="0">
              <a:buNone/>
            </a:pPr>
            <a:r>
              <a:rPr lang="en-IN" sz="1200" dirty="0" smtClean="0"/>
              <a:t>STEP 9 : TRAIN-TEST-SPLIT &amp; FEATURE </a:t>
            </a:r>
            <a:r>
              <a:rPr lang="en-IN" sz="1200" dirty="0"/>
              <a:t>SCALING </a:t>
            </a:r>
            <a:endParaRPr lang="en-IN" sz="1200" dirty="0" smtClean="0"/>
          </a:p>
          <a:p>
            <a:pPr marL="0" indent="0">
              <a:buNone/>
            </a:pPr>
            <a:r>
              <a:rPr lang="en-IN" sz="1200" dirty="0" smtClean="0"/>
              <a:t>STEP 10 : TRAINING &amp; MODEL EVALUATION</a:t>
            </a:r>
          </a:p>
          <a:p>
            <a:pPr marL="0" indent="0">
              <a:buNone/>
            </a:pPr>
            <a:r>
              <a:rPr lang="en-IN" sz="1200" dirty="0"/>
              <a:t> </a:t>
            </a:r>
            <a:r>
              <a:rPr lang="en-IN" sz="1200" dirty="0" smtClean="0"/>
              <a:t>                   - LOGISTIC REGRESSION</a:t>
            </a:r>
          </a:p>
          <a:p>
            <a:pPr marL="0" indent="0">
              <a:buNone/>
            </a:pPr>
            <a:r>
              <a:rPr lang="en-IN" sz="1200" dirty="0"/>
              <a:t> </a:t>
            </a:r>
            <a:r>
              <a:rPr lang="en-IN" sz="1200" dirty="0" smtClean="0"/>
              <a:t>                   - KNN</a:t>
            </a:r>
          </a:p>
          <a:p>
            <a:pPr marL="0" indent="0">
              <a:buNone/>
            </a:pPr>
            <a:r>
              <a:rPr lang="en-IN" sz="1200" dirty="0"/>
              <a:t> </a:t>
            </a:r>
            <a:r>
              <a:rPr lang="en-IN" sz="1200" dirty="0" smtClean="0"/>
              <a:t>                   - NAIVE BAYES</a:t>
            </a:r>
          </a:p>
          <a:p>
            <a:pPr marL="0" indent="0">
              <a:buNone/>
            </a:pPr>
            <a:r>
              <a:rPr lang="en-IN" sz="1200" dirty="0" smtClean="0"/>
              <a:t>STEP 11: FEATURE ENGINEERING</a:t>
            </a:r>
          </a:p>
          <a:p>
            <a:pPr marL="0" indent="0">
              <a:buNone/>
            </a:pPr>
            <a:endParaRPr lang="en-IN" sz="1200" dirty="0"/>
          </a:p>
          <a:p>
            <a:pPr marL="0" indent="0">
              <a:buNone/>
            </a:pPr>
            <a:endParaRPr lang="en-IN" sz="1200" dirty="0"/>
          </a:p>
          <a:p>
            <a:pPr marL="0" indent="0">
              <a:buNone/>
            </a:pPr>
            <a:endParaRPr lang="en-IN" sz="1200" dirty="0" smtClean="0"/>
          </a:p>
          <a:p>
            <a:pPr marL="0" indent="0">
              <a:buNone/>
            </a:pPr>
            <a:endParaRPr lang="en-IN" sz="1200" dirty="0"/>
          </a:p>
          <a:p>
            <a:pPr marL="0" indent="0">
              <a:buNone/>
            </a:pPr>
            <a:endParaRPr lang="en-IN" sz="1200" dirty="0" smtClean="0"/>
          </a:p>
          <a:p>
            <a:pPr marL="0" indent="0">
              <a:buNone/>
            </a:pPr>
            <a:r>
              <a:rPr lang="en-IN" sz="1200" dirty="0" smtClean="0"/>
              <a:t> </a:t>
            </a:r>
            <a:endParaRPr sz="12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1592" y="1776046"/>
            <a:ext cx="4904555" cy="3029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smtClean="0"/>
              <a:t>Conclusion</a:t>
            </a:r>
            <a:r>
              <a:rPr lang="en-IN" dirty="0" smtClean="0"/>
              <a:t> &amp; FUTURE goals</a:t>
            </a:r>
            <a:endParaRPr dirty="0"/>
          </a:p>
        </p:txBody>
      </p:sp>
      <p:sp>
        <p:nvSpPr>
          <p:cNvPr id="3" name="Content Placeholder 2"/>
          <p:cNvSpPr>
            <a:spLocks noGrp="1"/>
          </p:cNvSpPr>
          <p:nvPr>
            <p:ph idx="1"/>
          </p:nvPr>
        </p:nvSpPr>
        <p:spPr/>
        <p:txBody>
          <a:bodyPr>
            <a:normAutofit/>
          </a:bodyPr>
          <a:lstStyle/>
          <a:p>
            <a:pPr marL="0" indent="0">
              <a:buNone/>
            </a:pPr>
            <a:r>
              <a:rPr lang="en-US" sz="1200" dirty="0"/>
              <a:t>On the basis of precision, we chose </a:t>
            </a:r>
            <a:r>
              <a:rPr lang="en-US" sz="1200" b="1" dirty="0"/>
              <a:t>Naïve Bayes</a:t>
            </a:r>
            <a:r>
              <a:rPr lang="en-US" sz="1200" dirty="0"/>
              <a:t> over Logistic Regression and KNN</a:t>
            </a:r>
            <a:r>
              <a:rPr lang="en-US" sz="1200" dirty="0" smtClean="0"/>
              <a:t>.</a:t>
            </a:r>
          </a:p>
          <a:p>
            <a:pPr marL="0" indent="0">
              <a:buNone/>
            </a:pPr>
            <a:endParaRPr lang="en-US" sz="1200" dirty="0"/>
          </a:p>
          <a:p>
            <a:pPr marL="0" indent="0">
              <a:buNone/>
            </a:pPr>
            <a:r>
              <a:rPr lang="en-US" sz="1200" dirty="0"/>
              <a:t>In the future, we plan to use </a:t>
            </a:r>
            <a:r>
              <a:rPr lang="en-US" sz="1200" b="1" dirty="0"/>
              <a:t>Decision Tree</a:t>
            </a:r>
            <a:r>
              <a:rPr lang="en-US" sz="1200" dirty="0"/>
              <a:t> and </a:t>
            </a:r>
            <a:r>
              <a:rPr lang="en-US" sz="1200" b="1" dirty="0"/>
              <a:t>Random Forest</a:t>
            </a:r>
            <a:r>
              <a:rPr lang="en-US" sz="1200" dirty="0"/>
              <a:t> algorithms to further improve precision. We also aim to deploy this project and expand the dataset to train the model on a larger and more diverse set of data</a:t>
            </a:r>
            <a:r>
              <a:rPr lang="en-US" sz="1200" dirty="0" smtClean="0"/>
              <a:t>.</a:t>
            </a:r>
          </a:p>
          <a:p>
            <a:pPr marL="0" indent="0">
              <a:buNone/>
            </a:pPr>
            <a:endParaRPr lang="en-US" sz="1200" dirty="0"/>
          </a:p>
          <a:p>
            <a:pPr marL="0" indent="0">
              <a:buNone/>
            </a:pPr>
            <a:r>
              <a:rPr lang="en-US" sz="1200" dirty="0"/>
              <a:t>Ultimately, our main objective is to gain knowledge and derive key insights, which will help us in developing and deploying a more advanced real-world major project.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188" y="3132667"/>
            <a:ext cx="3721100" cy="247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3592" y="3132667"/>
            <a:ext cx="3790950" cy="252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35</TotalTime>
  <Words>519</Words>
  <Application>Microsoft Office PowerPoint</Application>
  <PresentationFormat>On-screen Show (4:3)</PresentationFormat>
  <Paragraphs>97</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Credit Wise Loan Approval System                                     -BY (SACHIN SOURAV &amp; ROUNAQUE AFROZ)</vt:lpstr>
      <vt:lpstr>SOLUTION</vt:lpstr>
      <vt:lpstr>DATASET DESCRIPTION</vt:lpstr>
      <vt:lpstr>STEPS</vt:lpstr>
      <vt:lpstr>Conclusion &amp; FUTURE goals</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Wise Loan Approval System                                     -BY (SACHIN SOURAV &amp; ROUNAQUE AFROZ)</dc:title>
  <dc:creator>Sachin Sourav</dc:creator>
  <dc:description>generated using python-pptx</dc:description>
  <cp:lastModifiedBy>Sachin Sourav</cp:lastModifiedBy>
  <cp:revision>5</cp:revision>
  <dcterms:created xsi:type="dcterms:W3CDTF">2013-01-27T09:14:16Z</dcterms:created>
  <dcterms:modified xsi:type="dcterms:W3CDTF">2026-04-08T17:50:08Z</dcterms:modified>
</cp:coreProperties>
</file>